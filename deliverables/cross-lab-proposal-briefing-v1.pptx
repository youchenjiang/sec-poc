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e6f6bda5b74433" /><Relationship Type="http://schemas.openxmlformats.org/officeDocument/2006/relationships/extended-properties" Target="/docProps/app.xml" Id="R68c1ab90a367410b" /><Relationship Type="http://schemas.openxmlformats.org/officeDocument/2006/relationships/officeDocument" Target="/ppt/presentation.xml" Id="R005504fc466f42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cc78a2b2d42e8"/>
  </p:sldMasterIdLst>
  <p:notesMasterIdLst>
    <p:notesMasterId xmlns:r="http://schemas.openxmlformats.org/officeDocument/2006/relationships" r:id="Rf8cbdc29d2774c68"/>
  </p:notesMasterIdLst>
  <p:sldIdLst>
    <p:sldId xmlns:r="http://schemas.openxmlformats.org/officeDocument/2006/relationships" id="256" r:id="R5ba249546b914bf5"/>
    <p:sldId xmlns:r="http://schemas.openxmlformats.org/officeDocument/2006/relationships" id="257" r:id="R56c6340c15aa49ad"/>
    <p:sldId xmlns:r="http://schemas.openxmlformats.org/officeDocument/2006/relationships" id="258" r:id="R40a49f6ebd304ac8"/>
    <p:sldId xmlns:r="http://schemas.openxmlformats.org/officeDocument/2006/relationships" id="259" r:id="R36f9edee555842f8"/>
    <p:sldId xmlns:r="http://schemas.openxmlformats.org/officeDocument/2006/relationships" id="260" r:id="R2f1966caaae8468c"/>
    <p:sldId xmlns:r="http://schemas.openxmlformats.org/officeDocument/2006/relationships" id="261" r:id="R4aace351608d47fc"/>
    <p:sldId xmlns:r="http://schemas.openxmlformats.org/officeDocument/2006/relationships" id="262" r:id="Re6c4a10daee5472d"/>
    <p:sldId xmlns:r="http://schemas.openxmlformats.org/officeDocument/2006/relationships" id="263" r:id="R57087fb3c41f4f5c"/>
    <p:sldId xmlns:r="http://schemas.openxmlformats.org/officeDocument/2006/relationships" id="264" r:id="R5d9ad61f50354dee"/>
    <p:sldId xmlns:r="http://schemas.openxmlformats.org/officeDocument/2006/relationships" id="265" r:id="R293a496d456f40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b9821dac944b59" /><Relationship Type="http://schemas.openxmlformats.org/officeDocument/2006/relationships/slideMaster" Target="/ppt/slideMasters/slideMaster1.xml" Id="Rc6fcc78a2b2d42e8" /><Relationship Type="http://schemas.openxmlformats.org/officeDocument/2006/relationships/notesMaster" Target="/ppt/notesMasters/notesMaster1.xml" Id="Rf8cbdc29d2774c68" /><Relationship Type="http://schemas.openxmlformats.org/officeDocument/2006/relationships/presProps" Target="/ppt/presProps.xml" Id="R9f94119fa08f422b" /><Relationship Type="http://schemas.openxmlformats.org/officeDocument/2006/relationships/tableStyles" Target="/ppt/tableStyles.xml" Id="Rd3e0be3039c54f18" /><Relationship Type="http://schemas.openxmlformats.org/officeDocument/2006/relationships/slide" Target="/ppt/slides/slide1.xml" Id="R5ba249546b914bf5" /><Relationship Type="http://schemas.openxmlformats.org/officeDocument/2006/relationships/slide" Target="/ppt/slides/slide2.xml" Id="R56c6340c15aa49ad" /><Relationship Type="http://schemas.openxmlformats.org/officeDocument/2006/relationships/slide" Target="/ppt/slides/slide3.xml" Id="R40a49f6ebd304ac8" /><Relationship Type="http://schemas.openxmlformats.org/officeDocument/2006/relationships/slide" Target="/ppt/slides/slide4.xml" Id="R36f9edee555842f8" /><Relationship Type="http://schemas.openxmlformats.org/officeDocument/2006/relationships/slide" Target="/ppt/slides/slide5.xml" Id="R2f1966caaae8468c" /><Relationship Type="http://schemas.openxmlformats.org/officeDocument/2006/relationships/slide" Target="/ppt/slides/slide6.xml" Id="R4aace351608d47fc" /><Relationship Type="http://schemas.openxmlformats.org/officeDocument/2006/relationships/slide" Target="/ppt/slides/slide7.xml" Id="Re6c4a10daee5472d" /><Relationship Type="http://schemas.openxmlformats.org/officeDocument/2006/relationships/slide" Target="/ppt/slides/slide8.xml" Id="R57087fb3c41f4f5c" /><Relationship Type="http://schemas.openxmlformats.org/officeDocument/2006/relationships/slide" Target="/ppt/slides/slide9.xml" Id="R5d9ad61f50354dee" /><Relationship Type="http://schemas.openxmlformats.org/officeDocument/2006/relationships/slide" Target="/ppt/slides/slide10.xml" Id="R293a496d456f40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f8d22a77a348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350950880b4fd5" /><Relationship Type="http://schemas.openxmlformats.org/officeDocument/2006/relationships/notesMaster" Target="/ppt/notesMasters/notesMaster1.xml" Id="R60602d4e52e748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ab05e36dad47ff" /><Relationship Type="http://schemas.openxmlformats.org/officeDocument/2006/relationships/notesMaster" Target="/ppt/notesMasters/notesMaster1.xml" Id="Rd8033874748642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64b2a505034209" /><Relationship Type="http://schemas.openxmlformats.org/officeDocument/2006/relationships/notesMaster" Target="/ppt/notesMasters/notesMaster1.xml" Id="R92b43709519448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93e15fbef54d1e" /><Relationship Type="http://schemas.openxmlformats.org/officeDocument/2006/relationships/notesMaster" Target="/ppt/notesMasters/notesMaster1.xml" Id="R025fe307fdf449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8e004b479947b0" /><Relationship Type="http://schemas.openxmlformats.org/officeDocument/2006/relationships/notesMaster" Target="/ppt/notesMasters/notesMaster1.xml" Id="Rb4fc053d8e1640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64389f02c14ec5" /><Relationship Type="http://schemas.openxmlformats.org/officeDocument/2006/relationships/notesMaster" Target="/ppt/notesMasters/notesMaster1.xml" Id="Rc34df2f99d8847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b838c6c38f4789" /><Relationship Type="http://schemas.openxmlformats.org/officeDocument/2006/relationships/notesMaster" Target="/ppt/notesMasters/notesMaster1.xml" Id="Rac6dd277f15f4a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6e54f557824614" /><Relationship Type="http://schemas.openxmlformats.org/officeDocument/2006/relationships/notesMaster" Target="/ppt/notesMasters/notesMaster1.xml" Id="Rd1d09bb7d26046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30df00af56459f" /><Relationship Type="http://schemas.openxmlformats.org/officeDocument/2006/relationships/notesMaster" Target="/ppt/notesMasters/notesMaster1.xml" Id="R938e4ab00b2643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430c57d4514f49" /><Relationship Type="http://schemas.openxmlformats.org/officeDocument/2006/relationships/notesMaster" Target="/ppt/notesMasters/notesMaster1.xml" Id="R25652eeee54745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開場：今天希望討論的不是完整系統規格，而是一個可被三年逐步驗證的科學問題。</a:t>
            </a:r>
          </a:p>
          <a:p xmlns:a="http://schemas.openxmlformats.org/drawingml/2006/main">
            <a:r>
              <a:t>核心問題是，能否把外部觀察到的業務違規，轉換成後端可定位、可修補、可驗證的安全不變量。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先用一個案例固定全場語境。正常流程先付款再出貨，攻擊流程跳過付款卻仍完成出貨。</a:t>
            </a:r>
          </a:p>
          <a:p xmlns:a="http://schemas.openxmlformats.org/drawingml/2006/main">
            <a:r>
              <a:t>輸入格式都合法，問題出在後端沒有執行狀態前置條件。這類漏洞未必具有典型惡意資料流。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這一頁主動承認最容易被質疑的地方。黑箱只能觀察行為，不能從一次成功直接推導應然規範。</a:t>
            </a:r>
          </a:p>
          <a:p xmlns:a="http://schemas.openxmlformats.org/drawingml/2006/main">
            <a:r>
              <a:t>我們以最小差異對照建立候選不變量，並用獨立真值評估，避免系統自己定義答案再評估自己。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這是整份提案最重要的一句。三年共同回答同一個問題，差別只在研究階段與可驗證產物。</a:t>
            </a:r>
          </a:p>
          <a:p xmlns:a="http://schemas.openxmlformats.org/drawingml/2006/main">
            <a:r>
              <a:t>跨年度核心資產包含軌跡、候選不變量、證據信心與程式對齊結果。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每年都有獨立研究問題與評估指標。即使第一年自動化模型尚未完美，第二年仍可先使用人工真值軌跡評估定位能力。</a:t>
            </a:r>
          </a:p>
          <a:p xmlns:a="http://schemas.openxmlformats.org/drawingml/2006/main">
            <a:r>
              <a:t>同理，第三年可分別使用正確定位與自動定位結果，量化前段誤差如何影響修補。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這不是宣稱研究已完成，而是證明核心閉環在可控案例中可重現。</a:t>
            </a:r>
          </a:p>
          <a:p xmlns:a="http://schemas.openxmlformats.org/drawingml/2006/main">
            <a:r>
              <a:t>四項本機測試分別覆蓋漏洞版正常流程、漏洞觸發、修補阻斷及修補後正常流程。</a:t>
            </a:r>
          </a:p>
          <a:p xmlns:a="http://schemas.openxmlformats.org/drawingml/2006/main">
            <a:r>
              <a:t>Demo 指令：進入 POC/golden-case 後執行 node --test .\poc.test.mjs。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第一年聚焦兩類缺失約束：業務狀態轉移，以及角色或資源所有權違規。</a:t>
            </a:r>
          </a:p>
          <a:p xmlns:a="http://schemas.openxmlformats.org/drawingml/2006/main">
            <a:r>
              <a:t>不把 HTTP 200 當成漏洞。系統還要確認敏感結果真的發生，並能重現。</a:t>
            </a:r>
          </a:p>
          <a:p xmlns:a="http://schemas.openxmlformats.org/drawingml/2006/main">
            <a:r>
              <a:t>憑證綁定或應用層加密若無法在不修改客戶端的情況下觀察，列為資料集限制。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Dominator Analysis 只能判斷現有條件是否支配敏感操作，不能單獨告訴我們缺少什麼條件。</a:t>
            </a:r>
          </a:p>
          <a:p xmlns:a="http://schemas.openxmlformats.org/drawingml/2006/main">
            <a:r>
              <a:t>因此先從對照軌跡推導不變量，再映射到後端變數與 Entity，最後分析檢查是否缺失、錯置或只覆蓋部分入口。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修補的目標不是讓 PoC 收到錯誤碼，而是讓敏感操作不再發生。</a:t>
            </a:r>
          </a:p>
          <a:p xmlns:a="http://schemas.openxmlformats.org/drawingml/2006/main">
            <a:r>
              <a:t>第三層功能保存避免全面拒絕式補丁。通過既有測試不代表零回歸，因此再加入第一年的合法軌跡與鄰近正常路徑。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結尾不要向教授詢問所有細節。希望取得兩個明確結論：核心假說是否具有研究價值，以及第一年應限制在哪一種系統與漏洞範圍。</a:t>
            </a:r>
          </a:p>
          <a:p xmlns:a="http://schemas.openxmlformats.org/drawingml/2006/main">
            <a:r>
              <a:t>若時間有限，優先討論目標系統與規範來源，因為兩者直接決定資料集與自動化程度。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8bbc8165842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b2e65cebd4f78" /><Relationship Type="http://schemas.openxmlformats.org/officeDocument/2006/relationships/slideLayout" Target="/ppt/slideLayouts/slideLayout1.xml" Id="Rf14f960570924d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4f960570924d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07007bad9445e" /><Relationship Type="http://schemas.openxmlformats.org/officeDocument/2006/relationships/image" Target="/ppt/media/image.png" Id="R087e50c6f86a4089" /><Relationship Type="http://schemas.openxmlformats.org/officeDocument/2006/relationships/notesSlide" Target="/ppt/notesSlides/notesSlide1.xml" Id="R81573124168645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b70f9212348ee" /><Relationship Type="http://schemas.openxmlformats.org/officeDocument/2006/relationships/notesSlide" Target="/ppt/notesSlides/notesSlide2.xml" Id="R8fcae2482dea43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112466ea844bd" /><Relationship Type="http://schemas.openxmlformats.org/officeDocument/2006/relationships/notesSlide" Target="/ppt/notesSlides/notesSlide3.xml" Id="Rb46589144d2047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a18752025400c" /><Relationship Type="http://schemas.openxmlformats.org/officeDocument/2006/relationships/notesSlide" Target="/ppt/notesSlides/notesSlide4.xml" Id="R1563c5a2b64949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f3ecacafa4219" /><Relationship Type="http://schemas.openxmlformats.org/officeDocument/2006/relationships/notesSlide" Target="/ppt/notesSlides/notesSlide5.xml" Id="Rd489bb2ac14c48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50afc8d8f4dc5" /><Relationship Type="http://schemas.openxmlformats.org/officeDocument/2006/relationships/notesSlide" Target="/ppt/notesSlides/notesSlide6.xml" Id="Rd53696c1dc5d40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e72bf86314e00" /><Relationship Type="http://schemas.openxmlformats.org/officeDocument/2006/relationships/notesSlide" Target="/ppt/notesSlides/notesSlide7.xml" Id="Rb5910214d5b440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ffe64ee3340c0" /><Relationship Type="http://schemas.openxmlformats.org/officeDocument/2006/relationships/notesSlide" Target="/ppt/notesSlides/notesSlide8.xml" Id="Rf65f6ae64c5642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5310c346f4438" /><Relationship Type="http://schemas.openxmlformats.org/officeDocument/2006/relationships/notesSlide" Target="/ppt/notesSlides/notesSlide9.xml" Id="R822da2bc6fdf4d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eed7224ff4e29" /><Relationship Type="http://schemas.openxmlformats.org/officeDocument/2006/relationships/notesSlide" Target="/ppt/notesSlides/notesSlide10.xml" Id="Rc63c72da8a784d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e50c6f86a408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87EF1-50A2-4734-AF20-8D05B08C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68563-B81F-42F6-8EEE-A457F467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B248E-51D3-43B4-A06E-1590110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334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從黑箱行為推論到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後端安全約束修補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07086-280B-4E2C-AD78-78651A0E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D4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7D4E6"/>
                </a:solidFill>
                <a:latin typeface="Microsoft JhengHei"/>
                <a:ea typeface="Microsoft JhengHei"/>
                <a:cs typeface="Microsoft JhengHei"/>
              </a:rPr>
              <a:t>Behavior Inference · Enforcement Localization · Constraint-Guided Repair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EF74D-9825-4A68-AA3E-81824EAF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跨實驗室三年期研究構想討論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2581B-AF66-4451-8697-498DE2A3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9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9CB9CD"/>
                </a:solidFill>
                <a:latin typeface="Microsoft JhengHei"/>
                <a:ea typeface="Microsoft JhengHei"/>
                <a:cs typeface="Microsoft JhengHei"/>
              </a:rPr>
              <a:t>2026-09-10</a:t>
            </a:r>
          </a:p>
        </p:txBody>
      </p:sp>
    </p:spTree>
    <p:extLst>
      <p:ext uri="{BB962C8B-B14F-4D97-AF65-F5344CB8AC3E}">
        <p14:creationId xmlns:p14="http://schemas.microsoft.com/office/powerpoint/2010/main" val="2094340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94447-5E4C-47D1-A6AB-BF3938B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Golden Case：未付款也能出貨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3AD3E-AF64-4B4F-86FE-E7984C0D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6C7A2-0D19-4A9E-BC0B-F5567159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相同的合法 API，因為缺少前置狀態檢查而形成業務邏輯漏洞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9433E-3F22-4F47-84EE-E24F445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rPr>
              <a:t>合法流程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497FE-D136-4A4D-98F8-468ADB09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A93A1-3DD2-4D71-ACBF-9EC5F7B8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04950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77B35-4A13-4248-927C-82B13735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1F5ED"/>
          </a:solidFill>
          <a:ln xmlns:a="http://schemas.openxmlformats.org/drawingml/2006/main" w="9525">
            <a:solidFill>
              <a:srgbClr val="2A9D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DAA38-7DE0-43C9-92A2-FD3BFBDF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04950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PAID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53CF1-AB21-4A71-867D-7DD7B246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1F5ED"/>
          </a:solidFill>
          <a:ln xmlns:a="http://schemas.openxmlformats.org/drawingml/2006/main" w="9525">
            <a:solidFill>
              <a:srgbClr val="2A9D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8F8AB-EE85-4E54-B7BA-8179674B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SHIPPED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1704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A9D72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1704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A9D72"/>
            </a:solidFill>
            <a:prstDash val="solid"/>
            <a:head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08E79-92C5-42BF-A2FD-64566007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rPr>
              <a:t>成功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2C976-0135-42F0-A031-E2AD6547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違規流程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1715F-5B03-41E2-B70C-D068815B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09875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49FD2-769B-4C7B-B3C0-40F5B864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86075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CREATED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C8575-C522-410E-887D-63D5DA23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1476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D95C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D06DB-49E7-43BC-B966-16A62915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86075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SHIPPED</a:t>
            </a:r>
          </a:p>
        </p:txBody>
      </p:sp>
      <p:cxnSp>
        <p:nvCxnSpPr>
          <p:cNvPr id="45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76625" y="3086100"/>
            <a:ext cx="3190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5C59"/>
            </a:solidFill>
            <a:prstDash val="dash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14FF3-98C4-4C98-92A4-E23BE4C1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仍然成功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8139E-042E-41B7-B293-BFEFAAA6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048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07182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3D628-863B-4EE5-9065-8AC68972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C3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FC3D8"/>
                </a:solidFill>
                <a:latin typeface="Microsoft JhengHei"/>
                <a:ea typeface="Microsoft JhengHei"/>
                <a:cs typeface="Microsoft JhengHei"/>
              </a:rPr>
              <a:t>缺失的不變量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7A551-85CD-4AFD-A4D7-F4565D2A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0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ship(order)  ⇒  order.status == PAID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36A61-F098-4662-8C8D-B3E36B52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24500"/>
            <a:ext cx="804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研究難點：系統如何從外部證據推導這個條件？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4C52C-FC9D-4D83-BAD1-5C92A22F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54F957-AE47-47BE-9F8E-1CDBACEE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跨實驗室提案討論｜2026-09-10</a:t>
            </a:r>
          </a:p>
        </p:txBody>
      </p:sp>
    </p:spTree>
    <p:extLst>
      <p:ext uri="{BB962C8B-B14F-4D97-AF65-F5344CB8AC3E}">
        <p14:creationId xmlns:p14="http://schemas.microsoft.com/office/powerpoint/2010/main" val="16717942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944B5-B47E-4093-94B9-E17AC5B7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觀察到的行為不能直接當成安全規範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F4F8B-23C7-428B-9485-A1C724AD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8698F-DA05-4D7A-9680-5606ED9E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第一年的關鍵不是畫出狀態圖，而是建立規範成立的對照證據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7C356-BBD8-44E8-8A80-43CFF7FA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429125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69FE2-FA88-40AE-B7E2-1143953B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只有單一路徑觀察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A6C3E-5BD8-4FE2-A205-A8BAA0E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系統看到 CREATED → SHIPPED 成功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D3E06-C2E4-409C-8701-C18E164C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可能是漏洞，也可能是管理員流程或貨到付款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599C7-9FB5-4828-883C-FE4883AC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56007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B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CE414-B4F4-482E-8220-20CB9244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成對的對照軌跡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0FE91-3026-4FBF-B4A0-0D662152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只改變前置狀態、角色或資源所有者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431A7-A1FE-46A6-B4D2-39110753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比較 API 結果、GUI 呈現與持久化狀態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9A9AE-2210-4033-B037-05FD514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產生有證據與信心的候選不變量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D2B96-F7E6-4620-B2AB-9B66E45E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CF5FA-3CB4-41BE-AC8A-842C15C2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62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5B0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A5B05"/>
                </a:solidFill>
                <a:latin typeface="Microsoft JhengHei"/>
                <a:ea typeface="Microsoft JhengHei"/>
                <a:cs typeface="Microsoft JhengHei"/>
              </a:rPr>
              <a:t>研究假說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AFCCD-0214-48C7-829D-FE33000D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8630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合法／違規對照能提供缺失安全條件的外部證據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0C1D2-4A3A-43CB-8B97-9A958206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81600"/>
            <a:ext cx="695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評估真值另由規格、已知修補或人工確認建立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CCD7C-616A-40F1-8531-41F7194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81D8B-8F0A-46D6-8348-F504A59F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跨實驗室提案討論｜2026-09-10</a:t>
            </a:r>
          </a:p>
        </p:txBody>
      </p:sp>
    </p:spTree>
    <p:extLst>
      <p:ext uri="{BB962C8B-B14F-4D97-AF65-F5344CB8AC3E}">
        <p14:creationId xmlns:p14="http://schemas.microsoft.com/office/powerpoint/2010/main" val="1801510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5C6E5-EFFB-4138-ABD9-A1D4F94E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跨年度核心假說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D45F3-2283-4806-85C6-7CD00C9A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C5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A8C5D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6DEED-428C-4F00-AF0D-C1EFD465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858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BD6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BBD6E6"/>
                </a:solidFill>
                <a:latin typeface="Microsoft JhengHei"/>
                <a:ea typeface="Microsoft JhengHei"/>
                <a:cs typeface="Microsoft JhengHei"/>
              </a:rPr>
              <a:t>給定成對的合法／違規軌跡及後端程式碼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739D3-BB0D-4B22-9CC4-556E2BBA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009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能否推導遭違反的安全不變量，定位其執行位置，</a:t>
            </a:r>
          </a:p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並生成阻斷同類違規且保存合法流程的跨函式補丁？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FDD85-222F-4C71-B637-948BE523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190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1152E-8B9E-4D26-9D33-427318EF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行為證據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643E7-0D20-49E5-89F8-14E7679A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合法與違規軌跡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33DFB-1FC3-4C9B-B888-A71B3E03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05250"/>
            <a:ext cx="2190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810F7-D22C-45DC-8D04-25864569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76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安全條件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44C09-BA30-4E46-AFBB-502721EF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481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狀態與所有權不變量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EF878-DCDA-4A3E-BA14-EB71CD5F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190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53D5B-B225-4EA7-822C-E5A0438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程式位置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9EFD8-8A46-443F-8637-EBF2B4AA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缺失或錯置的檢查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2E249-20BD-4390-9042-509D60B8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05250"/>
            <a:ext cx="2190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163B4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02602-FFF2-4C3D-A327-B584F976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76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可驗證補丁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F4B27-B794-4C4A-81A7-11D72FFE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481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攻擊阻斷與功能保存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44672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98B1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81675" y="44672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98B1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591550" y="44672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98B1"/>
            </a:solidFill>
            <a:prstDash val="solid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9C2B2-EFE2-48EB-B212-BD623B0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7212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BD6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BD6E6"/>
                </a:solidFill>
                <a:latin typeface="Microsoft JhengHei"/>
                <a:ea typeface="Microsoft JhengHei"/>
                <a:cs typeface="Microsoft JhengHei"/>
              </a:rPr>
              <a:t>同一份證據逐年升級，不把三年拆成互不相干的工具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E467E-B55B-40AB-9D79-6B1B746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924BF-8320-40E2-8221-4B2B43BD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BC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ABC0"/>
                </a:solidFill>
                <a:latin typeface="Microsoft JhengHei"/>
                <a:ea typeface="Microsoft JhengHei"/>
                <a:cs typeface="Microsoft JhengHei"/>
              </a:rPr>
              <a:t>跨實驗室提案討論｜核心假說</a:t>
            </a:r>
          </a:p>
        </p:txBody>
      </p:sp>
    </p:spTree>
    <p:extLst>
      <p:ext uri="{BB962C8B-B14F-4D97-AF65-F5344CB8AC3E}">
        <p14:creationId xmlns:p14="http://schemas.microsoft.com/office/powerpoint/2010/main" val="1370839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D17A9E-5C03-44BD-AD25-2498A308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三年研究路徑與年度閘門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EC938-C83F-43B5-A1BD-019AC1D1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808DB-0E45-4500-B29E-80E3EEB9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每一年都留下可獨立評估的產物，後續年度不假設前一年完全正確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E7363-C2C7-47D1-95B4-FAB81604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37623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87121-AD6F-4F48-8B6B-2725089C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8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19F76-7C53-4C45-B22E-E655B854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YEAR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5184D-EABC-4E84-9182-8E53C80A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探測與建模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08C3A-99DA-4639-97B2-9B48D105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C5387-7D46-45FF-A22D-16E37485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GUI／API 對照軌跡能否發現可重現違規？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A0C15-D408-468C-828E-B20ECCB0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1B596-E242-483B-A02C-7A11B68E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年度輸出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A1066-84F0-4A7C-8EFE-C8C880ED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安全狀態模型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合法與違規 Trace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候選 Invariant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21F65-8B0B-4D34-8859-ECE7392A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3143250" cy="37623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1CB15-925E-4F5E-B83F-01799476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3143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5B389-1C3C-4C47-9407-2912BE41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YEAR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336A0-463D-49DB-AB70-E319C89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43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診斷與定位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56CF8-7CA7-470A-98FB-75DA85E8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7D720-EF63-4C95-8545-ECB1D78E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能否把不變量映射到後端缺失檢查位置？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9E5C0-DA57-4111-B3A3-5D3549E6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9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47B4C-6119-4A52-9F8B-F55A7388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年度輸出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E8D4D-D7DD-4789-8D06-61212298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958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Trace-to-CPG 對齊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Top-k Enforcement Point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缺失 Predicate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2FA1A8-289B-48CC-B820-FD56EA6D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04950"/>
            <a:ext cx="3143250" cy="37623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B8EE1-6EC3-4584-BED6-445EC5DF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04950"/>
            <a:ext cx="3143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7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2E0B9-FFF4-4863-A2DD-35E621E1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rPr>
              <a:t>YEAR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6C1BD-30C0-4DC2-BD94-9818F760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修補與驗證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9A56D-38ED-4945-A172-0D6C1C0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E8F4C-864D-4E47-8EB7-7EFB805C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能否阻斷同類攻擊並保存合法工作流程？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618EB-499B-49CE-8C07-56A801E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823CA5-EDE4-4000-9099-27859FBA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年度輸出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84090-FD4A-403F-A73E-F7019972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Multi-Hunk Patch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三層驗證證據</a:t>
            </a:r>
          </a:p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修補資料集</a:t>
            </a:r>
          </a:p>
        </p:txBody>
      </p:sp>
      <p:cxnSp>
        <p:nvCxnSpPr>
          <p:cNvPr id="67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338613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B8D1"/>
            </a:solidFill>
            <a:prstDash val="solid"/>
            <a:head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15200" y="338613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B84B"/>
            </a:solidFill>
            <a:prstDash val="solid"/>
            <a:head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8A85A8-B2E0-4DA8-AB77-8A9FAB14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19750"/>
            <a:ext cx="7524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E359E6-D01B-4AF1-990D-92CED325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69595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年度閘門：以人工真值輸入與自動產生輸入分開評估，量化誤差傳播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985250-5884-4B3F-B6A1-79A76DC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F7042D-FFA8-41BA-9AD1-16694446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跨實驗室提案討論｜2026-09-10</a:t>
            </a:r>
          </a:p>
        </p:txBody>
      </p:sp>
    </p:spTree>
    <p:extLst>
      <p:ext uri="{BB962C8B-B14F-4D97-AF65-F5344CB8AC3E}">
        <p14:creationId xmlns:p14="http://schemas.microsoft.com/office/powerpoint/2010/main" val="1085276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09DDA-29F4-473C-B4DF-7F1781B4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微型 PoC 已驗證核心閉環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489EE-561F-4A29-BA6F-BF4DBBFA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6CDED-98BC-4D10-AED7-B4262913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本機 Node.js 標準函式庫案例，零外部相依；四項測試皆通過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2714625"/>
                <a:gridCol w="1619250"/>
                <a:gridCol w="2095500"/>
                <a:gridCol w="2857500"/>
              </a:tblGrid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後端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操作序列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HTTP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持久化狀態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證明</a:t>
                      </a:r>
                    </a:p>
                  </a:txBody>
                  <a:tcPr marL="95250" marR="95250" marT="76200" marB="76200" anchor="ctr">
                    <a:solidFill>
                      <a:srgbClr val="07182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漏洞版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 → 付款 → 出貨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SHIPPED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正常流程原本可用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漏洞版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 → 出貨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SHIPPED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違規流程確實成立</a:t>
                      </a:r>
                    </a:p>
                  </a:txBody>
                  <a:tcPr marL="95250" marR="95250" marT="76200" marB="76200" anchor="ctr">
                    <a:solidFill>
                      <a:srgbClr val="FCE9E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修補版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 → 出貨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409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CREATED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攻擊遭阻斷</a:t>
                      </a:r>
                    </a:p>
                  </a:txBody>
                  <a:tcPr marL="95250" marR="95250" marT="76200" marB="76200" anchor="ctr">
                    <a:solidFill>
                      <a:srgbClr val="E1F5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修補版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 → 付款 → 出貨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SHIPPED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22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合法流程仍成功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DBD63-8DFE-4200-AF7B-67430D03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DD22E-83B3-4AA5-AFE3-FB6EF36B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482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目前人工提供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65744-447D-4E4B-947C-359F5B7F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14975"/>
            <a:ext cx="3762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目標流程、真值、不變量與程式位置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12F92-5DDD-4BF5-A505-E0A5C793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研究逐年自動化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806A6-68CC-4C3E-995E-332116CA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149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推論、定位、修補與驗證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5D991-3E8B-48CA-90AF-74FF4534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D0FDD-6E88-4647-A7CE-E5F52EC6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實際測試：4 passed，0 failed｜2026-09-09</a:t>
            </a:r>
          </a:p>
        </p:txBody>
      </p:sp>
    </p:spTree>
    <p:extLst>
      <p:ext uri="{BB962C8B-B14F-4D97-AF65-F5344CB8AC3E}">
        <p14:creationId xmlns:p14="http://schemas.microsoft.com/office/powerpoint/2010/main" val="13700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8456EC-3D80-4551-8F56-505F6AF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第一年：由對照行為建立安全模型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3BE6E-1AD5-4888-B91D-AF95EB47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74853-E546-42A3-B329-C2A6D7EA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RQ1　GUI 與可觀測 API 流量能否支撐可重現的狀態／授權違規判定？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77B9F-FE3D-459E-94E4-410C0455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DF7FA"/>
          </a:solidFill>
          <a:ln xmlns:a="http://schemas.openxmlformats.org/drawingml/2006/main" w="9525">
            <a:solidFill>
              <a:srgbClr val="15B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39E7B-F23E-4BD7-97FC-B2E42F6F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語意 GUI 探索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8DDCC-202C-4BA9-A82F-EA2E635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190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54E7F-F3EF-4EDC-8E84-97208256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859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安全相關狀態抽象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CA97C-C378-442A-911D-BF680E7B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095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440D6-2694-4557-9BFC-AAED9B6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859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最小差異擾動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E7479-0B5B-4FFF-B130-181625FD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1F5ED"/>
          </a:solidFill>
          <a:ln xmlns:a="http://schemas.openxmlformats.org/drawingml/2006/main" w="9525">
            <a:solidFill>
              <a:srgbClr val="2A9D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DE20B-A32B-42BF-B921-C04BDC32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859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可重現 Exploit Trace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2085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B8D1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2085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B8D1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2085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B84B"/>
            </a:solidFill>
            <a:prstDash val="solid"/>
            <a:head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FD8BC-5240-4F51-A33B-C07EB9B7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0482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AF113-4A02-4F23-AE98-F8AECB1B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攻擊成功 Oracle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6B04F-CDDB-47D3-BF9F-37C5641E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敏感操作確實發生</a:t>
            </a:r>
          </a:p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必要前置條件未成立</a:t>
            </a:r>
          </a:p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結果可重新查詢或跨帳號確認</a:t>
            </a:r>
          </a:p>
          <a:p xmlns:a="http://schemas.openxmlformats.org/drawingml/2006/main">
            <a:pPr algn="l">
              <a:def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相同軌跡能穩定重現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5C509-1686-4CA5-90DF-00997F4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51435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718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98F40-57BF-4F25-9551-AFA306E8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黑箱邊界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6D5FF-A9B7-473B-B351-5082E36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只使用 GUI、Accessibility Tree 與 GUI 觸發的可觀測流量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不反編譯、不分析 Bundle、不修改客戶端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91BA9-5413-4789-BE46-679C5DC6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10250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評估：漏洞發現率、誤報率、重現率與探索成本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69F57-A053-4D58-94B3-826F4BF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94298-6193-4D3B-B595-5C29C008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跨實驗室提案討論｜2026-09-10</a:t>
            </a:r>
          </a:p>
        </p:txBody>
      </p:sp>
    </p:spTree>
    <p:extLst>
      <p:ext uri="{BB962C8B-B14F-4D97-AF65-F5344CB8AC3E}">
        <p14:creationId xmlns:p14="http://schemas.microsoft.com/office/powerpoint/2010/main" val="11666752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D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C37ED-5B79-4D36-B074-FCB72ACE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第二年：由外部軌跡縮小缺失檢查位置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176D2-3A06-44CE-85B8-B3233FD7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700EE-7054-40AF-9669-3E0C55BB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RQ2　對照軌跡與後端 CPG 能否提高安全不變量及執行位置的 Top-k 準確率？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69610-3D08-4CC2-B18C-731DEBA7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619625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42D11-36A5-4B69-A0F6-B81C43B0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Trace-to-Code 分層對齊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83293-3BEF-4AF8-8EF7-102A6373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714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192CF-4A0A-4B97-9F24-A86C5687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HTTP Route → Handler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52E2A-BACA-4816-A0B5-9B9E6978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3714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C768C-1A45-4D6D-8148-28D93E1A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Request／Identity → Variable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F9E8F-F511-4DC9-9BDF-A3B539BF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3714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CAD7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3BC67-81E7-44EC-9A8A-269153BB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Object ID → ORM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FB2D7-41A6-4DC7-B2AA-AC7203A3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3714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390F3-2FCA-4040-82B2-6D8208A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Handler → Sensitive Operation</a:t>
            </a:r>
          </a:p>
        </p:txBody>
      </p:sp>
      <p:cxnSp>
        <p:nvCxnSpPr>
          <p:cNvPr id="39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924175" y="29337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B8D1"/>
            </a:solidFill>
            <a:prstDash val="solid"/>
            <a:headEnd type="arrow" w="sm" len="sm"/>
          </a:ln>
        </p:spPr>
      </p:cxnSp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924175" y="36195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B8D1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924175" y="43053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B8D1"/>
            </a:solidFill>
            <a:prstDash val="solid"/>
            <a:head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5757E-E970-4D3C-8AE6-4F19297A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561975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718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47C40-78B2-4D60-83A4-2DEE4BAE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rPr>
              <a:t>缺失檢查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73F1C-DE0D-4BB5-A2E6-D997E511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4810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function ship(order) {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// Missing: order.status == PAID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order.status = "SHIPPED";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7CDEB-4038-45E8-8CBF-1CA46F86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5619750" cy="1304925"/>
          </a:xfrm>
          <a:prstGeom xmlns:a="http://schemas.openxmlformats.org/drawingml/2006/main" prst="roundRect">
            <a:avLst>
              <a:gd name="adj" fmla="val 11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B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07D97-F6CD-4812-BCE3-E6C79794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輸出排序後的候選，不預設唯一精確對齊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81591-EC84-4BA2-A3E3-2F3C8C88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File／Function／Predicate Top-k、證據與信心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1A9BF-ADD9-42BE-A267-FFCFA6D2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分析：Dominator、控制依賴、資料依賴及跨入口覆蓋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0F139-40BA-40F4-BB52-4773E7D8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BCAB1-2597-4302-943A-8C20FB3B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跨實驗室提案討論｜2026-09-10</a:t>
            </a:r>
          </a:p>
        </p:txBody>
      </p:sp>
    </p:spTree>
    <p:extLst>
      <p:ext uri="{BB962C8B-B14F-4D97-AF65-F5344CB8AC3E}">
        <p14:creationId xmlns:p14="http://schemas.microsoft.com/office/powerpoint/2010/main" val="1134630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7B4A68-F6A7-4183-8EC0-E3EF1551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第三年：補丁必須同時通過安全與功能驗證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180A6-A0A5-4673-8530-358D4DE8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34563-6A1C-4119-9639-09BF22A3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RQ3　約束引導的 Multi-Hunk Patch 能否阻斷同類違規並保存合法 Workflow？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A24E3-3214-4099-AE60-87A51D17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33400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8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DA6C2-1232-426F-A344-EBF59A72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rPr>
              <a:t>候選修補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89825-E441-4722-AB95-BFB33853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524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(order.status !== "PAID") {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return conflict("PAYMENT_REQUIRED");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order.status = "SHIPPED";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3958C-AF7A-4709-9993-F1502DC1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953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D95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32505-6E97-451D-A5CE-B791D8E4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B6FA6-CB83-418F-B14F-2D109D07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145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安全有效性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55DB9-7590-4AE8-B2F7-006D9E73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6692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原始 Exploit Trace 無法完成敏感操作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C7F4F-9B7D-4EAC-ACBD-1B9C6708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28925"/>
            <a:ext cx="4953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DB642-B7DC-4557-A499-E3BF5BA3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C1DBA-62E3-4999-9DFE-29E31C74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71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同類攻擊泛化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FCDD1-7DE0-4BB5-A631-7FD65B30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2422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替換資源、角色、順序與等價入口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6CE8E-028A-4660-88A3-01F75E27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4953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1F5ED"/>
          </a:solidFill>
          <a:ln xmlns:a="http://schemas.openxmlformats.org/drawingml/2006/main" w="9525">
            <a:solidFill>
              <a:srgbClr val="2A9D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466C1-F975-4DDF-8507-45D56119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03F9C-0D1D-4B38-B57D-5701DE7E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291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功能保存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93515-9EDB-4115-8DEC-4BF27AB1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8152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2233"/>
                </a:solidFill>
                <a:latin typeface="Microsoft JhengHei"/>
                <a:ea typeface="Microsoft JhengHei"/>
                <a:cs typeface="Microsoft JhengHei"/>
              </a:rPr>
              <a:t>合法 Workflow、鄰近正常路徑與既有測試成功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73A0A-4010-41E1-8F9D-652C70F7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334000" cy="1247775"/>
          </a:xfrm>
          <a:prstGeom xmlns:a="http://schemas.openxmlformats.org/drawingml/2006/main" prst="roundRect">
            <a:avLst>
              <a:gd name="adj" fmla="val 12214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5095B-F0E7-463A-9DD2-B91B3B58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182B"/>
                </a:solidFill>
                <a:latin typeface="Microsoft JhengHei"/>
                <a:ea typeface="Microsoft JhengHei"/>
                <a:cs typeface="Microsoft JhengHei"/>
              </a:rPr>
              <a:t>退化補丁排除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A434E-2C02-4C4C-B89E-1C4558C2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95C59"/>
                </a:solidFill>
                <a:latin typeface="Microsoft JhengHei"/>
                <a:ea typeface="Microsoft JhengHei"/>
                <a:cs typeface="Microsoft JhengHei"/>
              </a:rPr>
              <a:t>全面回傳 403、封鎖整個端點，或只配適單一 PoC 均不得視為成功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51CF3-243A-4917-851A-C037431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真實漏洞集與受控變異集分開報告，並依專案切分測試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E3E65-F171-4F71-B48E-7D9C3A13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ABAB5-6473-4AC3-B393-327CE40C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4D6174"/>
                </a:solidFill>
                <a:latin typeface="Microsoft JhengHei"/>
                <a:ea typeface="Microsoft JhengHei"/>
                <a:cs typeface="Microsoft JhengHei"/>
              </a:rPr>
              <a:t>跨實驗室提案討論｜2026-09-10</a:t>
            </a:r>
          </a:p>
        </p:txBody>
      </p:sp>
    </p:spTree>
    <p:extLst>
      <p:ext uri="{BB962C8B-B14F-4D97-AF65-F5344CB8AC3E}">
        <p14:creationId xmlns:p14="http://schemas.microsoft.com/office/powerpoint/2010/main" val="14395352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2F68B-9184-491A-89AF-B7499319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明日希望確認的研究邊界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EFAC4-8588-4F5C-9316-AE5BB41B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8C5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A8C5D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D9521-E5AD-4071-97DC-5130CEB2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A9C8DA"/>
                </a:solidFill>
                <a:latin typeface="Microsoft JhengHei"/>
                <a:ea typeface="Microsoft JhengHei"/>
                <a:cs typeface="Microsoft JhengHei"/>
              </a:rPr>
              <a:t>先確認可執行範圍，再進入完整提案與文獻定位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A8066-78CB-4EA4-8D57-971A4152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2197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C85B3-CBA5-4EE7-B96B-2532BFDF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A25F0-EEE8-442C-9F1A-30BAB9CB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811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目標系統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C0603-023D-488B-935A-0A4A200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383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Web、Android，或先以 Web 驗證再擴展？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7F704-704B-4461-9A82-A57FB5A4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71625"/>
            <a:ext cx="52197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EC9D2-E83C-44BF-A44F-73969567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1F15C-9411-4058-AC42-4D432920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811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後端生態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BA7A7-3C32-4D8E-B67D-6B7922E4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383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先限定哪一至兩種語言／Framework 建立 CPG？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D54B7-55EB-4F61-A81D-6F682EA1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197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2944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A2283-9DE8-4889-A21E-B8C89A58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B8D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36EC9-4FA9-4F59-910A-85C74D28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433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規範來源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B55DB-36AD-4BE3-85E0-B097C992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全自動推導、少量種子規則，或 Human-in-the-loop？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B4E8C-7398-4E8D-BB2C-7FADEE32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52197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84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25857-B687-4707-A917-523F2C64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718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1B9AA-9CF7-4F65-BFF1-45A90D2A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433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評估材料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0FF3E-80C9-47CC-A4DC-746F3138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7DDEA"/>
                </a:solidFill>
                <a:latin typeface="Microsoft JhengHei"/>
                <a:ea typeface="Microsoft JhengHei"/>
                <a:cs typeface="Microsoft JhengHei"/>
              </a:rPr>
              <a:t>真實漏洞、教學平台、自建案例與受控變異如何配置？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7265BF-0F8B-41F4-9F10-74D74EC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953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F43"/>
          </a:solidFill>
          <a:ln xmlns:a="http://schemas.openxmlformats.org/drawingml/2006/main" w="9525">
            <a:solidFill>
              <a:srgbClr val="15B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A1DB4-DF18-4AD4-AFD9-79E8E8A9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054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今天需要的結論：核心假說是否值得做，以及第一年應縮到哪裡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C3ADA-5338-44D8-B4DB-9EA5A763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4C4564-AB61-4326-A468-9303224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BC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8EABC0"/>
                </a:solidFill>
                <a:latin typeface="Microsoft JhengHei"/>
                <a:ea typeface="Microsoft JhengHei"/>
                <a:cs typeface="Microsoft JhengHei"/>
              </a:rPr>
              <a:t>討論焦點｜核心假說、研究邊界、可取得資料</a:t>
            </a:r>
          </a:p>
        </p:txBody>
      </p:sp>
    </p:spTree>
    <p:extLst>
      <p:ext uri="{BB962C8B-B14F-4D97-AF65-F5344CB8AC3E}">
        <p14:creationId xmlns:p14="http://schemas.microsoft.com/office/powerpoint/2010/main" val="1728826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2026-09-09T15:12:53.2270000Z</dcterms:created>
  <dcterms:modified xsi:type="dcterms:W3CDTF">2026-09-09T15:12:53.2280000Z</dcterms:modified>
</coreProperties>
</file>