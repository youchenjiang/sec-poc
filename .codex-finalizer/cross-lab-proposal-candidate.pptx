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0f0812b3544c6e" /><Relationship Type="http://schemas.openxmlformats.org/officeDocument/2006/relationships/extended-properties" Target="/docProps/app.xml" Id="Ra9d47368455643dc" /><Relationship Type="http://schemas.openxmlformats.org/officeDocument/2006/relationships/officeDocument" Target="/ppt/presentation.xml" Id="R4606a407530041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966154b22d4c0d"/>
  </p:sldMasterIdLst>
  <p:notesMasterIdLst>
    <p:notesMasterId xmlns:r="http://schemas.openxmlformats.org/officeDocument/2006/relationships" r:id="Rb2d94d2f712546fd"/>
  </p:notesMasterIdLst>
  <p:sldIdLst>
    <p:sldId xmlns:r="http://schemas.openxmlformats.org/officeDocument/2006/relationships" id="256" r:id="R61c438cc33044c27"/>
    <p:sldId xmlns:r="http://schemas.openxmlformats.org/officeDocument/2006/relationships" id="257" r:id="R27ff1f10471a4744"/>
    <p:sldId xmlns:r="http://schemas.openxmlformats.org/officeDocument/2006/relationships" id="258" r:id="R6d5c57e3b3bc4aaf"/>
    <p:sldId xmlns:r="http://schemas.openxmlformats.org/officeDocument/2006/relationships" id="259" r:id="R19344a3ec5e34d58"/>
    <p:sldId xmlns:r="http://schemas.openxmlformats.org/officeDocument/2006/relationships" id="260" r:id="R9ee53e9e15d740b7"/>
    <p:sldId xmlns:r="http://schemas.openxmlformats.org/officeDocument/2006/relationships" id="261" r:id="R22472bd75bed46f5"/>
    <p:sldId xmlns:r="http://schemas.openxmlformats.org/officeDocument/2006/relationships" id="262" r:id="Rd7f69a3a61e64f9b"/>
    <p:sldId xmlns:r="http://schemas.openxmlformats.org/officeDocument/2006/relationships" id="263" r:id="Raa0a16627c3a4bd9"/>
    <p:sldId xmlns:r="http://schemas.openxmlformats.org/officeDocument/2006/relationships" id="264" r:id="R5cf269d3464f45df"/>
    <p:sldId xmlns:r="http://schemas.openxmlformats.org/officeDocument/2006/relationships" id="265" r:id="R69cd9bae4efc4c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abda3a5f1140ac" /><Relationship Type="http://schemas.openxmlformats.org/officeDocument/2006/relationships/slideMaster" Target="/ppt/slideMasters/slideMaster1.xml" Id="Rd2966154b22d4c0d" /><Relationship Type="http://schemas.openxmlformats.org/officeDocument/2006/relationships/notesMaster" Target="/ppt/notesMasters/notesMaster1.xml" Id="Rb2d94d2f712546fd" /><Relationship Type="http://schemas.openxmlformats.org/officeDocument/2006/relationships/presProps" Target="/ppt/presProps.xml" Id="Rc563e2e31edd4a03" /><Relationship Type="http://schemas.openxmlformats.org/officeDocument/2006/relationships/tableStyles" Target="/ppt/tableStyles.xml" Id="R77a7a2e478a4455e" /><Relationship Type="http://schemas.openxmlformats.org/officeDocument/2006/relationships/slide" Target="/ppt/slides/slide1.xml" Id="R61c438cc33044c27" /><Relationship Type="http://schemas.openxmlformats.org/officeDocument/2006/relationships/slide" Target="/ppt/slides/slide2.xml" Id="R27ff1f10471a4744" /><Relationship Type="http://schemas.openxmlformats.org/officeDocument/2006/relationships/slide" Target="/ppt/slides/slide3.xml" Id="R6d5c57e3b3bc4aaf" /><Relationship Type="http://schemas.openxmlformats.org/officeDocument/2006/relationships/slide" Target="/ppt/slides/slide4.xml" Id="R19344a3ec5e34d58" /><Relationship Type="http://schemas.openxmlformats.org/officeDocument/2006/relationships/slide" Target="/ppt/slides/slide5.xml" Id="R9ee53e9e15d740b7" /><Relationship Type="http://schemas.openxmlformats.org/officeDocument/2006/relationships/slide" Target="/ppt/slides/slide6.xml" Id="R22472bd75bed46f5" /><Relationship Type="http://schemas.openxmlformats.org/officeDocument/2006/relationships/slide" Target="/ppt/slides/slide7.xml" Id="Rd7f69a3a61e64f9b" /><Relationship Type="http://schemas.openxmlformats.org/officeDocument/2006/relationships/slide" Target="/ppt/slides/slide8.xml" Id="Raa0a16627c3a4bd9" /><Relationship Type="http://schemas.openxmlformats.org/officeDocument/2006/relationships/slide" Target="/ppt/slides/slide9.xml" Id="R5cf269d3464f45df" /><Relationship Type="http://schemas.openxmlformats.org/officeDocument/2006/relationships/slide" Target="/ppt/slides/slide10.xml" Id="R69cd9bae4efc4c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dcaebfb92d44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29f694f23b4b5a" /><Relationship Type="http://schemas.openxmlformats.org/officeDocument/2006/relationships/notesMaster" Target="/ppt/notesMasters/notesMaster1.xml" Id="Rb5ac076b812248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381f7d80ac45b3" /><Relationship Type="http://schemas.openxmlformats.org/officeDocument/2006/relationships/notesMaster" Target="/ppt/notesMasters/notesMaster1.xml" Id="R4453c8ce9a1542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7c37e689e94e95" /><Relationship Type="http://schemas.openxmlformats.org/officeDocument/2006/relationships/notesMaster" Target="/ppt/notesMasters/notesMaster1.xml" Id="R31c9087092fd44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ea74f151ca423c" /><Relationship Type="http://schemas.openxmlformats.org/officeDocument/2006/relationships/notesMaster" Target="/ppt/notesMasters/notesMaster1.xml" Id="Rf69b4d0b14dd4a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4287fd6374487e" /><Relationship Type="http://schemas.openxmlformats.org/officeDocument/2006/relationships/notesMaster" Target="/ppt/notesMasters/notesMaster1.xml" Id="Re14b6673e05f45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7a47c2c5924918" /><Relationship Type="http://schemas.openxmlformats.org/officeDocument/2006/relationships/notesMaster" Target="/ppt/notesMasters/notesMaster1.xml" Id="Rd8f415aa3fff4a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940f70ba7c413a" /><Relationship Type="http://schemas.openxmlformats.org/officeDocument/2006/relationships/notesMaster" Target="/ppt/notesMasters/notesMaster1.xml" Id="R96719e40631b49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54b7bcef374882" /><Relationship Type="http://schemas.openxmlformats.org/officeDocument/2006/relationships/notesMaster" Target="/ppt/notesMasters/notesMaster1.xml" Id="R92e111b7f19543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7a630f4c854b96" /><Relationship Type="http://schemas.openxmlformats.org/officeDocument/2006/relationships/notesMaster" Target="/ppt/notesMasters/notesMaster1.xml" Id="R60d822cc751d43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e8289f5d394ad5" /><Relationship Type="http://schemas.openxmlformats.org/officeDocument/2006/relationships/notesMaster" Target="/ppt/notesMasters/notesMaster1.xml" Id="Re765b8314e204d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開場：今天希望討論的不是完整系統規格，而是一個可被三年逐步驗證的科學問題。</a:t>
            </a:r>
          </a:p>
          <a:p xmlns:a="http://schemas.openxmlformats.org/drawingml/2006/main">
            <a:r>
              <a:t>核心問題是，能否把外部觀察到的業務違規，轉換成後端可定位、可修補、可驗證的安全不變量。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先用一個案例固定全場語境。正常流程先付款再出貨，攻擊流程跳過付款卻仍完成出貨。</a:t>
            </a:r>
          </a:p>
          <a:p xmlns:a="http://schemas.openxmlformats.org/drawingml/2006/main">
            <a:r>
              <a:t>輸入格式都合法，問題出在後端沒有執行狀態前置條件。這類漏洞未必具有典型惡意資料流。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這一頁主動承認最容易被質疑的地方。黑箱只能觀察行為，不能從一次成功直接推導應然規範。</a:t>
            </a:r>
          </a:p>
          <a:p xmlns:a="http://schemas.openxmlformats.org/drawingml/2006/main">
            <a:r>
              <a:t>我們以最小差異對照建立候選不變量，並用獨立真值評估，避免系統自己定義答案再評估自己。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這是整份提案最重要的一句。三年共同回答同一個問題，差別只在研究階段與可驗證產物。</a:t>
            </a:r>
          </a:p>
          <a:p xmlns:a="http://schemas.openxmlformats.org/drawingml/2006/main">
            <a:r>
              <a:t>跨年度核心資產包含軌跡、候選不變量、證據信心與程式對齊結果。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每年都有獨立研究問題與評估指標。即使第一年自動化模型尚未完美，第二年仍可先使用人工真值軌跡評估定位能力。</a:t>
            </a:r>
          </a:p>
          <a:p xmlns:a="http://schemas.openxmlformats.org/drawingml/2006/main">
            <a:r>
              <a:t>同理，第三年可分別使用正確定位與自動定位結果，量化前段誤差如何影響修補。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這不是宣稱研究已完成，而是證明核心閉環在可控案例中可重現。</a:t>
            </a:r>
          </a:p>
          <a:p xmlns:a="http://schemas.openxmlformats.org/drawingml/2006/main">
            <a:r>
              <a:t>四項本機測試分別覆蓋漏洞版正常流程、漏洞觸發、修補阻斷及修補後正常流程。</a:t>
            </a:r>
          </a:p>
          <a:p xmlns:a="http://schemas.openxmlformats.org/drawingml/2006/main">
            <a:r>
              <a:t>Demo 指令：進入 POC/golden-case 後執行 node --test .\poc.test.mjs。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第一年聚焦兩類缺失約束：業務狀態轉移，以及角色或資源所有權違規。</a:t>
            </a:r>
          </a:p>
          <a:p xmlns:a="http://schemas.openxmlformats.org/drawingml/2006/main">
            <a:r>
              <a:t>不把 HTTP 200 當成漏洞。系統還要確認敏感結果真的發生，並能重現。</a:t>
            </a:r>
          </a:p>
          <a:p xmlns:a="http://schemas.openxmlformats.org/drawingml/2006/main">
            <a:r>
              <a:t>憑證綁定或應用層加密若無法在不修改客戶端的情況下觀察，列為資料集限制。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Dominator Analysis 只能判斷現有條件是否支配敏感操作，不能單獨告訴我們缺少什麼條件。</a:t>
            </a:r>
          </a:p>
          <a:p xmlns:a="http://schemas.openxmlformats.org/drawingml/2006/main">
            <a:r>
              <a:t>因此先從對照軌跡推導不變量，再映射到後端變數與 Entity，最後分析檢查是否缺失、錯置或只覆蓋部分入口。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修補的目標不是讓 PoC 收到錯誤碼，而是讓敏感操作不再發生。</a:t>
            </a:r>
          </a:p>
          <a:p xmlns:a="http://schemas.openxmlformats.org/drawingml/2006/main">
            <a:r>
              <a:t>第三層功能保存避免全面拒絕式補丁。通過既有測試不代表零回歸，因此再加入第一年的合法軌跡與鄰近正常路徑。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結尾不要向教授詢問所有細節。希望取得兩個明確結論：核心假說是否具有研究價值，以及第一年應限制在哪一種系統與漏洞範圍。</a:t>
            </a:r>
          </a:p>
          <a:p xmlns:a="http://schemas.openxmlformats.org/drawingml/2006/main">
            <a:r>
              <a:t>若時間有限，優先討論目標系統與規範來源，因為兩者直接決定資料集與自動化程度。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d80615156345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930b0c977e46ad" /><Relationship Type="http://schemas.openxmlformats.org/officeDocument/2006/relationships/slideLayout" Target="/ppt/slideLayouts/slideLayout1.xml" Id="R9a32153472da4d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32153472da4d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97158cda14507" /><Relationship Type="http://schemas.openxmlformats.org/officeDocument/2006/relationships/image" Target="/ppt/media/image.png" Id="R9cff519e1c834197" /><Relationship Type="http://schemas.openxmlformats.org/officeDocument/2006/relationships/notesSlide" Target="/ppt/notesSlides/notesSlide1.xml" Id="Rf1db5a93602847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659b91b8c4e2c" /><Relationship Type="http://schemas.openxmlformats.org/officeDocument/2006/relationships/notesSlide" Target="/ppt/notesSlides/notesSlide2.xml" Id="R63a65fe3396e42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26bf58b7b4aa7" /><Relationship Type="http://schemas.openxmlformats.org/officeDocument/2006/relationships/notesSlide" Target="/ppt/notesSlides/notesSlide3.xml" Id="Rd40c120a294143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6421d73114b18" /><Relationship Type="http://schemas.openxmlformats.org/officeDocument/2006/relationships/notesSlide" Target="/ppt/notesSlides/notesSlide4.xml" Id="R2ae836eb1d5841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920fbb5ee4721" /><Relationship Type="http://schemas.openxmlformats.org/officeDocument/2006/relationships/notesSlide" Target="/ppt/notesSlides/notesSlide5.xml" Id="R33c49ba4302149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665b5527f4f73" /><Relationship Type="http://schemas.openxmlformats.org/officeDocument/2006/relationships/notesSlide" Target="/ppt/notesSlides/notesSlide6.xml" Id="Rdf3ba6d8e4fe46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b0348d8b9400c" /><Relationship Type="http://schemas.openxmlformats.org/officeDocument/2006/relationships/notesSlide" Target="/ppt/notesSlides/notesSlide7.xml" Id="Rf9b65c0a8cc446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fa0b841d84c4f" /><Relationship Type="http://schemas.openxmlformats.org/officeDocument/2006/relationships/notesSlide" Target="/ppt/notesSlides/notesSlide8.xml" Id="Ra9ac73ccffa443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862b29be74496" /><Relationship Type="http://schemas.openxmlformats.org/officeDocument/2006/relationships/notesSlide" Target="/ppt/notesSlides/notesSlide9.xml" Id="R430406eb581c41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aab840c074aff" /><Relationship Type="http://schemas.openxmlformats.org/officeDocument/2006/relationships/notesSlide" Target="/ppt/notesSlides/notesSlide10.xml" Id="Re84642b2d54542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f519e1c83419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2CD18-FF52-4B27-9E6A-A01116C8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2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CF4ED-B599-4EF0-894C-15160185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97726-2E68-4FBD-B40D-7F5CB32B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5334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從黑箱行為推論到</a:t>
            </a:r>
          </a:p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後端安全約束修補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DB925-F50A-472A-885E-9B140E65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485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D4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B7D4E6"/>
                </a:solidFill>
                <a:latin typeface="Microsoft JhengHei"/>
                <a:ea typeface="Microsoft JhengHei"/>
                <a:cs typeface="Microsoft JhengHei"/>
              </a:rPr>
              <a:t>Behavior Inference</a:t>
            </a:r>
          </a:p>
          <a:p xmlns:a="http://schemas.openxmlformats.org/drawingml/2006/main">
            <a:pPr algn="l">
              <a:defRPr sz="1350" b="0">
                <a:solidFill>
                  <a:srgbClr val="B7D4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B7D4E6"/>
                </a:solidFill>
                <a:latin typeface="Microsoft JhengHei"/>
                <a:ea typeface="Microsoft JhengHei"/>
                <a:cs typeface="Microsoft JhengHei"/>
              </a:rPr>
              <a:t>Enforcement Localization</a:t>
            </a:r>
          </a:p>
          <a:p xmlns:a="http://schemas.openxmlformats.org/drawingml/2006/main">
            <a:pPr algn="l">
              <a:defRPr sz="1350" b="0">
                <a:solidFill>
                  <a:srgbClr val="B7D4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B7D4E6"/>
                </a:solidFill>
                <a:latin typeface="Microsoft JhengHei"/>
                <a:ea typeface="Microsoft JhengHei"/>
                <a:cs typeface="Microsoft JhengHei"/>
              </a:rPr>
              <a:t>Constraint-Guided Repair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04BC4-27F2-4CB0-90B0-A2D3AEA9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跨實驗室三年期研究構想討論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D48B9-27ED-4BC7-AD4C-9C2CBE79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B9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9CB9CD"/>
                </a:solidFill>
                <a:latin typeface="Microsoft JhengHei"/>
                <a:ea typeface="Microsoft JhengHei"/>
                <a:cs typeface="Microsoft JhengHei"/>
              </a:rPr>
              <a:t>2026-09-10</a:t>
            </a:r>
          </a:p>
        </p:txBody>
      </p:sp>
    </p:spTree>
    <p:extLst>
      <p:ext uri="{BB962C8B-B14F-4D97-AF65-F5344CB8AC3E}">
        <p14:creationId xmlns:p14="http://schemas.microsoft.com/office/powerpoint/2010/main" val="8730439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D464F-6F31-4429-8FEC-DA1AC669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Golden Case：未付款也能出貨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97111-7717-4397-B5E5-3458C10A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3996A-8B6D-4B9C-8317-37759AA4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相同的合法 API，因為缺少前置狀態檢查而形成業務邏輯漏洞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A8F4E-60C9-4591-8C59-99218631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9D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A9D72"/>
                </a:solidFill>
                <a:latin typeface="Microsoft JhengHei"/>
                <a:ea typeface="Microsoft JhengHei"/>
                <a:cs typeface="Microsoft JhengHei"/>
              </a:rPr>
              <a:t>合法流程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91BBF-700D-482C-8E98-56BB31DA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28750"/>
            <a:ext cx="14763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9525">
            <a:solidFill>
              <a:srgbClr val="CAD7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0CAB6-4D52-498E-B6BA-752F7322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504950"/>
            <a:ext cx="1323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CREATED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986CD-4785-415D-9DA4-D2A5D3C0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28750"/>
            <a:ext cx="14763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1F5ED"/>
          </a:solidFill>
          <a:ln xmlns:a="http://schemas.openxmlformats.org/drawingml/2006/main" w="9525">
            <a:solidFill>
              <a:srgbClr val="2A9D7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28CCA-56D0-40AE-9E52-33CC5BED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504950"/>
            <a:ext cx="1323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PAID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DD671-F0DC-4FD3-8074-EE91E605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14763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1F5ED"/>
          </a:solidFill>
          <a:ln xmlns:a="http://schemas.openxmlformats.org/drawingml/2006/main" w="9525">
            <a:solidFill>
              <a:srgbClr val="2A9D7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E9071-34F4-4031-A97F-2500916C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04950"/>
            <a:ext cx="1323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SHIPPED</a:t>
            </a:r>
          </a:p>
        </p:txBody>
      </p:sp>
      <p:cxnSp>
        <p:nvCxnSpPr>
          <p:cNvPr id="37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76625" y="17049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A9D72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10250" y="17049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A9D72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BC869-D609-48D6-BA56-D8E4051F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9D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A9D72"/>
                </a:solidFill>
                <a:latin typeface="Microsoft JhengHei"/>
                <a:ea typeface="Microsoft JhengHei"/>
                <a:cs typeface="Microsoft JhengHei"/>
              </a:rPr>
              <a:t>成功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14AA2A-8DDE-4A63-94BF-8620D4C3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5C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D95C59"/>
                </a:solidFill>
                <a:latin typeface="Microsoft JhengHei"/>
                <a:ea typeface="Microsoft JhengHei"/>
                <a:cs typeface="Microsoft JhengHei"/>
              </a:rPr>
              <a:t>違規流程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D5FA5E-54FA-4C5D-908B-8A67FA2B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09875"/>
            <a:ext cx="14763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9525">
            <a:solidFill>
              <a:srgbClr val="CAD7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CBADB-ED19-4A9E-968D-C5A775B4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86075"/>
            <a:ext cx="1323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CREATED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8A8D5E-7F37-4C3D-8735-9870B0DA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14763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CE9E7"/>
          </a:solidFill>
          <a:ln xmlns:a="http://schemas.openxmlformats.org/drawingml/2006/main" w="9525">
            <a:solidFill>
              <a:srgbClr val="D95C5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F91B48-4CD8-4784-8756-4E1A557B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86075"/>
            <a:ext cx="1323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SHIPPED</a:t>
            </a:r>
          </a:p>
        </p:txBody>
      </p:sp>
      <p:cxnSp>
        <p:nvCxnSpPr>
          <p:cNvPr id="45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476625" y="3086100"/>
            <a:ext cx="3190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5C59"/>
            </a:solidFill>
            <a:prstDash val="dash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A5ECE5-14D8-4F56-B668-93D97AC7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051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5C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D95C59"/>
                </a:solidFill>
                <a:latin typeface="Microsoft JhengHei"/>
                <a:ea typeface="Microsoft JhengHei"/>
                <a:cs typeface="Microsoft JhengHei"/>
              </a:rPr>
              <a:t>仍然成功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0A65B3-DE4F-4FB7-84B3-EA0CD4DD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95750"/>
            <a:ext cx="8048625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07182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A07B12-35D5-4743-8E34-5DA59251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67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C3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9FC3D8"/>
                </a:solidFill>
                <a:latin typeface="Microsoft JhengHei"/>
                <a:ea typeface="Microsoft JhengHei"/>
                <a:cs typeface="Microsoft JhengHei"/>
              </a:rPr>
              <a:t>缺失的不變量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350603-684C-4403-AAE9-1160877B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101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ship(order)  ⇒  order.status == PAID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F18ABF-BE09-4FE0-AD39-263FD4BE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24500"/>
            <a:ext cx="804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研究難點：系統如何從外部證據推導這個條件？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656603-4CF0-47B2-B69D-4E515338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E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725F78-1DBC-40A9-AB3E-162E9AFB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跨實驗室提案討論　2026-09-10</a:t>
            </a:r>
          </a:p>
        </p:txBody>
      </p:sp>
    </p:spTree>
    <p:extLst>
      <p:ext uri="{BB962C8B-B14F-4D97-AF65-F5344CB8AC3E}">
        <p14:creationId xmlns:p14="http://schemas.microsoft.com/office/powerpoint/2010/main" val="7160566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D36FE5-0D75-4CEA-B863-D801B49B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觀察到的行為不能直接當成安全規範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69E9D-8704-4330-9EB9-E47C866A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58018-ADB4-4FC6-8653-E3D06075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第一年的關鍵在於建立規範成立的對照證據，狀態圖只是中間產物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2B521-C958-4C57-8150-FBAD62DE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429125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EB647-A6D3-460E-BFE5-4959A1A3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907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只有單一路徑觀察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AAF16-4796-4122-80C7-69FD24D9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系統看到 CREATED 直接進入 SHIPPED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6421A-D641-4B72-8E07-82D0ADFE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361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5C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95C59"/>
                </a:solidFill>
                <a:latin typeface="Microsoft JhengHei"/>
                <a:ea typeface="Microsoft JhengHei"/>
                <a:cs typeface="Microsoft JhengHei"/>
              </a:rPr>
              <a:t>可能是漏洞，也可能是管理員流程或貨到付款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80376-FDFD-49A8-A613-8AB0A0DE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71625"/>
            <a:ext cx="56007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B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DB21C-FF88-4673-9737-749CB66D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成對的對照軌跡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BFDFF-6BA1-4FAC-AE8E-F0A1CCEA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只改變前置狀態、角色或資源所有者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AA866-2F24-4253-BB81-8E6CE2B9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比較 API 結果、GUI 呈現與持久化狀態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18BD3-D301-430C-9A0D-8D468BA7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52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rPr>
              <a:t>產生有證據與信心的候選不變量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FEC6C-DFC2-421A-8E57-A2BE17C7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895350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29F360-365C-43B9-ACF4-B8A9A353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62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5B0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8A5B05"/>
                </a:solidFill>
                <a:latin typeface="Microsoft JhengHei"/>
                <a:ea typeface="Microsoft JhengHei"/>
                <a:cs typeface="Microsoft JhengHei"/>
              </a:rPr>
              <a:t>研究假說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D97163-404D-405A-A089-09ADDE8E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68630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合法／違規對照能提供缺失安全條件的外部證據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B13F2-CD7A-4A86-A4F6-E3666C30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81600"/>
            <a:ext cx="695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評估真值另由規格、已知修補或人工確認建立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7BC549-0263-4477-9779-67C10511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E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5AC0FB-7A7A-420C-8807-D3479F3F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跨實驗室提案討論　2026-09-10</a:t>
            </a:r>
          </a:p>
        </p:txBody>
      </p:sp>
    </p:spTree>
    <p:extLst>
      <p:ext uri="{BB962C8B-B14F-4D97-AF65-F5344CB8AC3E}">
        <p14:creationId xmlns:p14="http://schemas.microsoft.com/office/powerpoint/2010/main" val="13100896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8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68D079-CFE8-4ABD-B4F6-5BEB464F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跨年度核心假說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37597-5941-4007-A1AF-935419FD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8C5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A8C5D8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AB08B-F6F2-4F91-8451-75123D6E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85875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BD6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BBD6E6"/>
                </a:solidFill>
                <a:latin typeface="Microsoft JhengHei"/>
                <a:ea typeface="Microsoft JhengHei"/>
                <a:cs typeface="Microsoft JhengHei"/>
              </a:rPr>
              <a:t>給定成對的合法／違規軌跡及後端程式碼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B8C9A-863F-4482-B096-2F27E71B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10096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能否推導遭違反的安全不變量，定位其執行位置，</a:t>
            </a:r>
          </a:p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並生成阻斷同類違規且保存合法流程的跨函式補丁？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82485-4950-413D-8B4D-FB5974B5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19075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F2597-5D59-4553-B18F-6D5EE01A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rPr>
              <a:t>行為證據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0A41C-6F41-47FA-8965-5E4E778B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4817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合法與違規軌跡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B644C-94B1-4917-9520-0D323F34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905250"/>
            <a:ext cx="219075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7DB3F-DAEF-4DE5-83FA-B20B0DAB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767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rPr>
              <a:t>安全條件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9ADB41-55F1-481E-AB17-C4A834B5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44817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狀態與所有權不變量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25012-87A6-43E6-AA54-C23CB43C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219075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6805F-004A-4699-AC48-C99CABEB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767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rPr>
              <a:t>程式位置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6570A-0D60-4D89-8D9B-A23D6909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4817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缺失或錯置的檢查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E4EED-9978-4DB7-9EAC-9DF375B0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905250"/>
            <a:ext cx="219075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163B49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92F01B-E85A-40E3-A021-CF30FBF3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767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可驗證補丁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DC356E-C02F-4013-8546-56BA82E5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4817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攻擊阻斷與功能保存</a:t>
            </a:r>
          </a:p>
        </p:txBody>
      </p: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71800" y="44672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E98B1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781675" y="44672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E98B1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591550" y="44672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E98B1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475654-B699-40CC-8D9B-0AD5F57A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572125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BD6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BD6E6"/>
                </a:solidFill>
                <a:latin typeface="Microsoft JhengHei"/>
                <a:ea typeface="Microsoft JhengHei"/>
                <a:cs typeface="Microsoft JhengHei"/>
              </a:rPr>
              <a:t>同一份證據逐年升級，不把三年拆成互不相干的工具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2391C9-6F6C-4759-89E2-0770F606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6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ECF2A3-8101-4822-843A-91BF91D3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ABC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ABC0"/>
                </a:solidFill>
                <a:latin typeface="Microsoft JhengHei"/>
                <a:ea typeface="Microsoft JhengHei"/>
                <a:cs typeface="Microsoft JhengHei"/>
              </a:rPr>
              <a:t>跨實驗室提案討論　核心假說</a:t>
            </a:r>
          </a:p>
        </p:txBody>
      </p:sp>
    </p:spTree>
    <p:extLst>
      <p:ext uri="{BB962C8B-B14F-4D97-AF65-F5344CB8AC3E}">
        <p14:creationId xmlns:p14="http://schemas.microsoft.com/office/powerpoint/2010/main" val="1219122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70AB98-D728-4DBB-AA83-9B716D19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三年研究路徑與年度閘門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07387-7FB4-4464-8157-8D8A92F9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E578D-1BBE-4F29-A6E1-93BF27FF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每一年都留下可獨立評估的產物，後續年度不假設前一年完全正確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8C1F0-E64A-49B6-A1D0-E31F2C5E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3143250" cy="376237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FD010-9F01-41FE-B5C0-E82D4A12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31432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D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D866A-FB29-4630-8AD6-A2F508EB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rPr>
              <a:t>YEAR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AB7C5-566B-4081-9209-7D1E5CF6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探測與建模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29D6A-7736-4EA2-A83F-A28D4782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研究問題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13B5E-D633-4AFF-8B83-D9ABC406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686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GUI／API 對照軌跡能否發現可重現違規？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0F1C3-7BA1-4BD0-A1E9-09523F4C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268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47AAF7-9C45-424B-A3E3-C3F43589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年度輸出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46677-99D8-49F1-BAEB-EC7B61B0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安全狀態模型</a:t>
            </a:r>
          </a:p>
          <a:p xmlns:a="http://schemas.openxmlformats.org/drawingml/2006/main">
            <a:pPr algn="l">
              <a:def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合法與違規 Trace</a:t>
            </a:r>
          </a:p>
          <a:p xmlns:a="http://schemas.openxmlformats.org/drawingml/2006/main">
            <a:pPr algn="l">
              <a:def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候選 Invariant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A6E48-7927-4A54-9AC7-687F40D8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04950"/>
            <a:ext cx="3143250" cy="376237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D4048-E4CE-4B13-B03D-ABE5E6A8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04950"/>
            <a:ext cx="31432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BDE5F5-B8A8-432F-A9C6-9EEAA617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YEAR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48E501-27E6-482F-BDF9-8F15002C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431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診斷與定位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4967F8-DE63-46D8-BD59-920A71B6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622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研究問題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6ABD3E-7616-445B-AAA3-716FE97F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48000"/>
            <a:ext cx="2686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能否把不變量映射到後端缺失檢查位置？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97E00B-E8A5-4FD3-83D5-D477A2FA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19550"/>
            <a:ext cx="268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E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8ED493-5344-4633-9BA5-8DEC1B3A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910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年度輸出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3CC240-F6B6-4EB8-B3F4-E701C6BE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9580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Trace-to-CPG 對齊</a:t>
            </a:r>
          </a:p>
          <a:p xmlns:a="http://schemas.openxmlformats.org/drawingml/2006/main">
            <a:pPr algn="l">
              <a:def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Top-k Enforcement Point</a:t>
            </a:r>
          </a:p>
          <a:p xmlns:a="http://schemas.openxmlformats.org/drawingml/2006/main">
            <a:pPr algn="l">
              <a:def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缺失 Predicate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72F089-551B-4280-8D5B-224759A8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504950"/>
            <a:ext cx="3143250" cy="376237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21047A-CE3F-4ACB-8A47-EA00C4D4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504950"/>
            <a:ext cx="31432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7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8C17C6-178D-4F11-9919-B05808FE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907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9D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A9D72"/>
                </a:solidFill>
                <a:latin typeface="Microsoft JhengHei"/>
                <a:ea typeface="Microsoft JhengHei"/>
                <a:cs typeface="Microsoft JhengHei"/>
              </a:rPr>
              <a:t>YEAR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2662FF-2356-42D9-9DD4-037C96CA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431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修補與驗證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CD3050-565B-4E6E-A038-145C14E3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研究問題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0AA568-1F55-4C66-864E-2807D51E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2686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能否阻斷同類攻擊並保存合法工作流程？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F6406B-62FB-4645-9242-F5A95D60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19550"/>
            <a:ext cx="268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E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0606F4-9739-4048-AEBB-02B0DA9A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910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年度輸出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CEEDF1-4D08-48DF-B775-0F165A0F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9580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Multi-Hunk Patch</a:t>
            </a:r>
          </a:p>
          <a:p xmlns:a="http://schemas.openxmlformats.org/drawingml/2006/main">
            <a:pPr algn="l">
              <a:def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三層驗證證據</a:t>
            </a:r>
          </a:p>
          <a:p xmlns:a="http://schemas.openxmlformats.org/drawingml/2006/main">
            <a:pPr algn="l">
              <a:def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修補資料集</a:t>
            </a:r>
          </a:p>
        </p:txBody>
      </p:sp>
      <p:cxnSp>
        <p:nvCxnSpPr>
          <p:cNvPr id="67" name=""/>
          <p:cNvCxnSpPr>
            <a:stCxn xmlns:a="http://schemas.openxmlformats.org/drawingml/2006/main" id="4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810000" y="3386138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B8D1"/>
            </a:solidFill>
            <a:prstDash val="solid"/>
            <a:tailEnd type="arrow" w="med" len="med"/>
          </a:ln>
        </p:spPr>
      </p:cxnSp>
      <p:cxnSp>
        <p:nvCxnSpPr>
          <p:cNvPr id="68" name=""/>
          <p:cNvCxnSpPr>
            <a:stCxn xmlns:a="http://schemas.openxmlformats.org/drawingml/2006/main" id="13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315200" y="3386138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B84B"/>
            </a:solidFill>
            <a:prstDash val="soli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44BF8A-A6C5-4E16-B177-D55B531D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619750"/>
            <a:ext cx="7524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A4CC8B-DA14-484D-AA1C-534199FE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69595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年度閘門：以人工真值輸入與自動產生輸入分開評估，量化誤差傳播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6B9348-C9D5-40DC-808C-6B2A8689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E0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C3C795-5C77-416C-86B6-32BFB282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跨實驗室提案討論　2026-09-10</a:t>
            </a:r>
          </a:p>
        </p:txBody>
      </p:sp>
    </p:spTree>
    <p:extLst>
      <p:ext uri="{BB962C8B-B14F-4D97-AF65-F5344CB8AC3E}">
        <p14:creationId xmlns:p14="http://schemas.microsoft.com/office/powerpoint/2010/main" val="13046566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D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2718BC-17CD-4929-B384-A6F18B74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微型 PoC 已驗證核心閉環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357C6-B017-467E-A0F4-5C6CC404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AE078-B6EA-48BD-9A22-F0607746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本機 Node.js 標準函式庫案例，零外部相依，四項測試皆通過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71625"/>
                <a:gridCol w="2714625"/>
                <a:gridCol w="1619250"/>
                <a:gridCol w="2095500"/>
                <a:gridCol w="2857500"/>
              </a:tblGrid>
              <a:tr h="6286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後端</a:t>
                      </a:r>
                    </a:p>
                  </a:txBody>
                  <a:tcPr marL="95250" marR="95250" marT="76200" marB="76200" anchor="ctr">
                    <a:solidFill>
                      <a:srgbClr val="0718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操作序列</a:t>
                      </a:r>
                    </a:p>
                  </a:txBody>
                  <a:tcPr marL="95250" marR="95250" marT="76200" marB="76200" anchor="ctr">
                    <a:solidFill>
                      <a:srgbClr val="0718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HTTP</a:t>
                      </a:r>
                    </a:p>
                  </a:txBody>
                  <a:tcPr marL="95250" marR="95250" marT="76200" marB="76200" anchor="ctr">
                    <a:solidFill>
                      <a:srgbClr val="0718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持久化狀態</a:t>
                      </a:r>
                    </a:p>
                  </a:txBody>
                  <a:tcPr marL="95250" marR="95250" marT="76200" marB="76200" anchor="ctr">
                    <a:solidFill>
                      <a:srgbClr val="0718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證明</a:t>
                      </a:r>
                    </a:p>
                  </a:txBody>
                  <a:tcPr marL="95250" marR="95250" marT="76200" marB="76200" anchor="ctr">
                    <a:solidFill>
                      <a:srgbClr val="07182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漏洞版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建立、付款、出貨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200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SHIPPED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正常流程原本可用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漏洞版</a:t>
                      </a:r>
                    </a:p>
                  </a:txBody>
                  <a:tcPr marL="95250" marR="95250" marT="76200" marB="76200" anchor="ctr">
                    <a:solidFill>
                      <a:srgbClr val="FCE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建立後直接出貨</a:t>
                      </a:r>
                    </a:p>
                  </a:txBody>
                  <a:tcPr marL="95250" marR="95250" marT="76200" marB="76200" anchor="ctr">
                    <a:solidFill>
                      <a:srgbClr val="FCE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200</a:t>
                      </a:r>
                    </a:p>
                  </a:txBody>
                  <a:tcPr marL="95250" marR="95250" marT="76200" marB="76200" anchor="ctr">
                    <a:solidFill>
                      <a:srgbClr val="FCE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SHIPPED</a:t>
                      </a:r>
                    </a:p>
                  </a:txBody>
                  <a:tcPr marL="95250" marR="95250" marT="76200" marB="76200" anchor="ctr">
                    <a:solidFill>
                      <a:srgbClr val="FCE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違規流程確實成立</a:t>
                      </a:r>
                    </a:p>
                  </a:txBody>
                  <a:tcPr marL="95250" marR="95250" marT="76200" marB="76200" anchor="ctr">
                    <a:solidFill>
                      <a:srgbClr val="FCE9E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修補版</a:t>
                      </a:r>
                    </a:p>
                  </a:txBody>
                  <a:tcPr marL="95250" marR="95250" marT="76200" marB="76200" anchor="ctr">
                    <a:solidFill>
                      <a:srgbClr val="E1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建立後直接出貨</a:t>
                      </a:r>
                    </a:p>
                  </a:txBody>
                  <a:tcPr marL="95250" marR="95250" marT="76200" marB="76200" anchor="ctr">
                    <a:solidFill>
                      <a:srgbClr val="E1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409</a:t>
                      </a:r>
                    </a:p>
                  </a:txBody>
                  <a:tcPr marL="95250" marR="95250" marT="76200" marB="76200" anchor="ctr">
                    <a:solidFill>
                      <a:srgbClr val="E1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CREATED</a:t>
                      </a:r>
                    </a:p>
                  </a:txBody>
                  <a:tcPr marL="95250" marR="95250" marT="76200" marB="76200" anchor="ctr">
                    <a:solidFill>
                      <a:srgbClr val="E1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攻擊遭阻斷</a:t>
                      </a:r>
                    </a:p>
                  </a:txBody>
                  <a:tcPr marL="95250" marR="95250" marT="76200" marB="76200" anchor="ctr">
                    <a:solidFill>
                      <a:srgbClr val="E1F5E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修補版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建立、付款、出貨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200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SHIPPED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合法流程仍成功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0767E-3E7A-4920-A9C0-181AB9B3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99060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8E0F5-5961-4E27-9BEA-56ED8BDA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482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目前人工提供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858EE-4677-4973-B1D5-B80AABA7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14975"/>
            <a:ext cx="3762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目標流程、真值、不變量與程式位置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2F246-1831-4E08-89BF-5A7E7983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2482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研究逐年自動化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96650-DCA5-4349-A9DD-43AF07A8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149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rPr>
              <a:t>推論、定位、修補與驗證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00D06-AB14-44C8-9BD2-976EF79E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A36D6-10CB-46DD-9A07-B750D018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實際測試：4 passed，0 failed　2026-09-09</a:t>
            </a:r>
          </a:p>
        </p:txBody>
      </p:sp>
    </p:spTree>
    <p:extLst>
      <p:ext uri="{BB962C8B-B14F-4D97-AF65-F5344CB8AC3E}">
        <p14:creationId xmlns:p14="http://schemas.microsoft.com/office/powerpoint/2010/main" val="3691583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6CDE2F-5901-4D0D-BF2C-9B6C816C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第一年：由對照行為建立安全模型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FD12F-5D36-4119-8D60-9041AAE3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4C0535-C5B0-4230-ABF2-B5D7D9B6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RQ1　GUI 與可觀測 API 流量能否支撐可重現的狀態／授權違規判定？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EC5CD-E62E-4DAA-A666-A129BD87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095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DDF7FA"/>
          </a:solidFill>
          <a:ln xmlns:a="http://schemas.openxmlformats.org/drawingml/2006/main" w="9525">
            <a:solidFill>
              <a:srgbClr val="15B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09BD6-5764-4FBB-A870-0518DA73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語意 GUI 探索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227AC-9B46-45B3-A719-F76CFB43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2190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403A3-CD83-438F-B3F5-E188B672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859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安全相關狀態抽象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4F741-EDD3-4D9D-A0A2-48A63D60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2095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559F3-3494-4ED1-8795-5A383009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859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最小差異擾動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D0559-CE1E-4174-A0DB-31036F38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09750"/>
            <a:ext cx="1809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1F5ED"/>
          </a:solidFill>
          <a:ln xmlns:a="http://schemas.openxmlformats.org/drawingml/2006/main" w="9525">
            <a:solidFill>
              <a:srgbClr val="2A9D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F457B-0772-4A9D-B29F-BF66C68C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8859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可重現 Exploit Trace</a:t>
            </a:r>
          </a:p>
        </p:txBody>
      </p:sp>
      <p:cxnSp>
        <p:nvCxnSpPr>
          <p:cNvPr id="35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57500" y="20859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B8D1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05500" y="20859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B8D1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858250" y="20859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B84B"/>
            </a:solidFill>
            <a:prstDash val="soli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1CDDBB-6200-4B35-AFEA-AFA631B7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50482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09B95C-F56F-4D29-BE00-F42F31F4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攻擊成功 Oracle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E29F3A-6FA0-4732-A899-9710FA56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4286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敏感操作確實發生</a:t>
            </a:r>
          </a:p>
          <a:p xmlns:a="http://schemas.openxmlformats.org/drawingml/2006/main">
            <a:pPr algn="l">
              <a:def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必要前置條件未成立</a:t>
            </a:r>
          </a:p>
          <a:p xmlns:a="http://schemas.openxmlformats.org/drawingml/2006/main">
            <a:pPr algn="l">
              <a:def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結果可重新查詢或跨帳號確認</a:t>
            </a:r>
          </a:p>
          <a:p xmlns:a="http://schemas.openxmlformats.org/drawingml/2006/main">
            <a:pPr algn="l">
              <a:def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相同軌跡能穩定重現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0327FE-5264-41A6-9291-45462E58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51435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07182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41D145-AFD1-4429-AD2C-DDA554BF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575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黑箱邊界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8A493A-C605-459E-8C4D-C4159E77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29050"/>
            <a:ext cx="4381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DE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C7DDEA"/>
                </a:solidFill>
                <a:latin typeface="Microsoft JhengHei"/>
                <a:ea typeface="Microsoft JhengHei"/>
                <a:cs typeface="Microsoft JhengHei"/>
              </a:rPr>
              <a:t>只使用 GUI、Accessibility Tree 與 GUI 觸發的可觀測流量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C7DDE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C7DDEA"/>
                </a:solidFill>
                <a:latin typeface="Microsoft JhengHei"/>
                <a:ea typeface="Microsoft JhengHei"/>
                <a:cs typeface="Microsoft JhengHei"/>
              </a:rPr>
              <a:t>不反編譯、不分析 Bundle、不修改客戶端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6DFA77-DDCB-4FE7-BC81-6F1782BF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10250"/>
            <a:ext cx="838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評估：漏洞發現率、誤報率、重現率與探索成本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B01CCF-943E-4C86-A747-6C3A9EA3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E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B2BC5D-D379-4593-9AC5-41A8BF18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跨實驗室提案討論　2026-09-10</a:t>
            </a:r>
          </a:p>
        </p:txBody>
      </p:sp>
    </p:spTree>
    <p:extLst>
      <p:ext uri="{BB962C8B-B14F-4D97-AF65-F5344CB8AC3E}">
        <p14:creationId xmlns:p14="http://schemas.microsoft.com/office/powerpoint/2010/main" val="677720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D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67B6FF-0673-4CC1-BE99-57C4B599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第二年：由外部軌跡縮小缺失檢查位置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CAA02-818A-4E73-AE4B-2601477B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F8F26-A4E0-4A1C-BA63-503B6DFB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RQ2　對照軌跡與後端 CPG 能否提高安全不變量及執行位置的 Top-k 準確率？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B2144-1A79-48F0-ACF5-F0E42775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619625" cy="3905250"/>
          </a:xfrm>
          <a:prstGeom xmlns:a="http://schemas.openxmlformats.org/drawingml/2006/main" prst="roundRect">
            <a:avLst>
              <a:gd name="adj" fmla="val 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75B69-66F4-46C8-B3C3-7207594D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Trace-to-Code 分層對齊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8A27B-DD4C-440B-B144-57C7602C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714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9525">
            <a:solidFill>
              <a:srgbClr val="CAD7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96B76-95CA-402E-B4B5-75CC6C0A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HTTP Route 對應 Handler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A1D19-5497-4257-B4D1-66A3C53F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3714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9525">
            <a:solidFill>
              <a:srgbClr val="CAD7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E022A-9FE3-4C4C-9E57-E2150728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Request／Identity 對應 Variable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0C886-C112-4A0B-B915-DDAAD8DB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3714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9525">
            <a:solidFill>
              <a:srgbClr val="CAD7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3A088-8724-451E-BC6A-49688361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Object ID 對應 ORM 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DD9CA-37E9-47A1-9286-D90D29E3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3714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B7D4EC-5881-4A7A-A98A-295DCC69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Handler 到 Sensitive Operation</a:t>
            </a:r>
          </a:p>
        </p:txBody>
      </p:sp>
      <p:cxnSp>
        <p:nvCxnSpPr>
          <p:cNvPr id="39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924175" y="29337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B8D1"/>
            </a:solidFill>
            <a:prstDash val="solid"/>
            <a:tailEnd type="arrow" w="sm" len="sm"/>
          </a:ln>
        </p:spPr>
      </p:cxnSp>
      <p:cxnSp>
        <p:nvCxnSpPr>
          <p:cNvPr id="40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924175" y="36195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B8D1"/>
            </a:solidFill>
            <a:prstDash val="solid"/>
            <a:tailEnd type="arrow" w="sm" len="sm"/>
          </a:ln>
        </p:spPr>
      </p:cxnSp>
      <p:cxnSp>
        <p:nvCxnSpPr>
          <p:cNvPr id="41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924175" y="43053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B8D1"/>
            </a:solidFill>
            <a:prstDash val="solid"/>
            <a:tailEnd type="arrow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1A7FD9-4910-4162-B3B1-8336F7ED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71625"/>
            <a:ext cx="5619750" cy="2333625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7182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51A0E-7249-4421-B9F2-A8D5FB82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C8D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A9C8DA"/>
                </a:solidFill>
                <a:latin typeface="Microsoft JhengHei"/>
                <a:ea typeface="Microsoft JhengHei"/>
                <a:cs typeface="Microsoft JhengHei"/>
              </a:rPr>
              <a:t>缺失檢查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0119C4-AD7E-4E15-85D3-217ACD30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4810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function ship(order) {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// Missing: order.status == PAID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order.status = "SHIPPED";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2B2C63-8151-4D77-B5D5-3B299440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71950"/>
            <a:ext cx="5619750" cy="1304925"/>
          </a:xfrm>
          <a:prstGeom xmlns:a="http://schemas.openxmlformats.org/drawingml/2006/main" prst="roundRect">
            <a:avLst>
              <a:gd name="adj" fmla="val 11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B8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FE08E6-07FB-41A9-9BF5-B57D9921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輸出排序後的候選，不預設唯一精確對齊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4220DC-08AA-4B42-8E6F-404B5C9F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rPr>
              <a:t>File／Function／Predicate Top-k、證據與信心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026E38-8530-472F-8D75-1A3D8FB6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933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分析：Dominator、控制依賴、資料依賴及跨入口覆蓋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B3F1D4-BA0F-4476-AC53-B3CD0BE8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E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ECD172-A56C-4870-8A56-1F590A41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跨實驗室提案討論　2026-09-10</a:t>
            </a:r>
          </a:p>
        </p:txBody>
      </p:sp>
    </p:spTree>
    <p:extLst>
      <p:ext uri="{BB962C8B-B14F-4D97-AF65-F5344CB8AC3E}">
        <p14:creationId xmlns:p14="http://schemas.microsoft.com/office/powerpoint/2010/main" val="11211698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BC306F-799D-4FDC-931F-45EB02D7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第三年：補丁必須同時通過安全與功能驗證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7AD9D-83DF-447D-8C40-2B81F77B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0A24A-2772-4E3F-8593-3E481F03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RQ3　約束引導的 Multi-Hunk Patch 能否阻斷同類違規並保存合法 Workflow？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C96C9-23C9-40DB-A814-54A2C264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5334000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7182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57A82-3428-4500-AF69-A5252BD9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C8D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A9C8DA"/>
                </a:solidFill>
                <a:latin typeface="Microsoft JhengHei"/>
                <a:ea typeface="Microsoft JhengHei"/>
                <a:cs typeface="Microsoft JhengHei"/>
              </a:rPr>
              <a:t>候選修補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F16B7-BEE7-4A0E-BB99-FDCC4940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524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if (order.status !== "PAID") {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return conflict("PAYMENT_REQUIRED");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order.status = "SHIPPED";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E9A2C-EA4E-4314-8327-0EA47367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953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CE9E7"/>
          </a:solidFill>
          <a:ln xmlns:a="http://schemas.openxmlformats.org/drawingml/2006/main" w="9525">
            <a:solidFill>
              <a:srgbClr val="D95C5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4A4EE-52FB-496B-B41D-A5D4B4A4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5C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D95C5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5E499-C9C3-4A62-B9E5-4545373E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7145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安全有效性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5EAC4-7D9C-4B05-B516-9851B6CE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66925"/>
            <a:ext cx="361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原始 Exploit Trace 無法完成敏感操作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C24D0-D8FD-4FB5-A534-3466CE84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28925"/>
            <a:ext cx="4953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DD142-3185-481E-B2FB-20F84F85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480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7EAFD0-46D0-4FAF-B6BB-9DCBDF94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718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同類攻擊泛化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B78D9-C985-4A0D-9EA9-85CF1ACB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24225"/>
            <a:ext cx="361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替換資源、角色、順序與等價入口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6F3B0-2FF6-423F-BC9F-3A5854E1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86225"/>
            <a:ext cx="4953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1F5ED"/>
          </a:solidFill>
          <a:ln xmlns:a="http://schemas.openxmlformats.org/drawingml/2006/main" w="9525">
            <a:solidFill>
              <a:srgbClr val="2A9D7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E110AF-2CC5-497C-8B5C-6FA17712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053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A9D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A9D7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66F35-0C37-4941-BB69-59385B14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291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功能保存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210E1C-FA9F-48E2-A1D6-35646E2B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581525"/>
            <a:ext cx="361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合法 Workflow、鄰近正常路徑與既有測試成功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46AFAC-185D-4A6E-AADD-7508654B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5334000" cy="1247775"/>
          </a:xfrm>
          <a:prstGeom xmlns:a="http://schemas.openxmlformats.org/drawingml/2006/main" prst="roundRect">
            <a:avLst>
              <a:gd name="adj" fmla="val 12214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63C86D-466E-4580-ACDB-4EB952FA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退化補丁排除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E4BE50-69DA-4D73-8540-08D6D000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C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D95C59"/>
                </a:solidFill>
                <a:latin typeface="Microsoft JhengHei"/>
                <a:ea typeface="Microsoft JhengHei"/>
                <a:cs typeface="Microsoft JhengHei"/>
              </a:rPr>
              <a:t>全面回傳 403、封鎖整個端點，或只配適單一 PoC 均不得視為成功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7777A7-56AD-43B3-87B8-DFA6DC13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真實漏洞集與受控變異集分開報告，並依專案切分測試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CC5AA8-FDA6-4D52-ACF2-EE1F99D3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E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A2B0FD-1757-4B22-8BF4-D0328EF9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跨實驗室提案討論　2026-09-10</a:t>
            </a:r>
          </a:p>
        </p:txBody>
      </p:sp>
    </p:spTree>
    <p:extLst>
      <p:ext uri="{BB962C8B-B14F-4D97-AF65-F5344CB8AC3E}">
        <p14:creationId xmlns:p14="http://schemas.microsoft.com/office/powerpoint/2010/main" val="641138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8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8573E0-B841-40BE-8091-3BC787FF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明日希望確認的研究邊界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BB9D7-F45A-4A30-A913-26A370AA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8C5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A8C5D8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DC4AE-0AF8-4937-A235-5D536D0A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C8D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A9C8DA"/>
                </a:solidFill>
                <a:latin typeface="Microsoft JhengHei"/>
                <a:ea typeface="Microsoft JhengHei"/>
                <a:cs typeface="Microsoft JhengHei"/>
              </a:rPr>
              <a:t>先確認可執行範圍，再進入完整提案與文獻定位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5635F-3DA4-40B7-A626-E367DB2E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2197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B7D60-0309-47E7-98B8-FCB167D7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B79A6-E9ED-4CBB-A79C-DABE2C73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7811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目標系統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41AAD-218D-4617-84B0-9687CA38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38375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DE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C7DDEA"/>
                </a:solidFill>
                <a:latin typeface="Microsoft JhengHei"/>
                <a:ea typeface="Microsoft JhengHei"/>
                <a:cs typeface="Microsoft JhengHei"/>
              </a:rPr>
              <a:t>Web、Android，或先以 Web 驗證再擴展？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DCE16-B235-4292-8DA6-6856AAF5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71625"/>
            <a:ext cx="52197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4775D-60D7-4503-AEC7-BB394A72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097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DFF68-1589-4EA4-ADC5-97EAC97C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811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後端生態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AE2F5-77D5-4EA7-A5BA-893BC1A4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38375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DE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C7DDEA"/>
                </a:solidFill>
                <a:latin typeface="Microsoft JhengHei"/>
                <a:ea typeface="Microsoft JhengHei"/>
                <a:cs typeface="Microsoft JhengHei"/>
              </a:rPr>
              <a:t>先限定哪一至兩種語言／Framework 建立 CPG？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23CF8B-5E0C-4D2D-BBD6-9621AA1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2197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24D22-4F30-4451-9B7E-21E76F1A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5A8B67-5690-423E-AE05-FFFFE4F1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433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規範來源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FFADCF-752C-499D-B832-045A4CC7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005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DE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C7DDEA"/>
                </a:solidFill>
                <a:latin typeface="Microsoft JhengHei"/>
                <a:ea typeface="Microsoft JhengHei"/>
                <a:cs typeface="Microsoft JhengHei"/>
              </a:rPr>
              <a:t>全自動推導、少量種子規則，或 Human-in-the-loop？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85F263-9585-43C3-8A4F-0C0EBBA2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33750"/>
            <a:ext cx="52197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2384B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9EC4AD-9965-43A7-877A-C0A032D8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718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D045C0-BD5B-4EC1-AC0A-96ED0CAC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433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評估材料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D0A6F4-D37B-4CC6-8D74-ADF6BF82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005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DE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C7DDEA"/>
                </a:solidFill>
                <a:latin typeface="Microsoft JhengHei"/>
                <a:ea typeface="Microsoft JhengHei"/>
                <a:cs typeface="Microsoft JhengHei"/>
              </a:rPr>
              <a:t>真實漏洞、教學平台、自建案例與受控變異如何配置？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9BC8C1-A36E-4558-A886-FCEB6868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8953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F43"/>
          </a:solidFill>
          <a:ln xmlns:a="http://schemas.openxmlformats.org/drawingml/2006/main" w="9525">
            <a:solidFill>
              <a:srgbClr val="15B8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82113A-F87C-4080-BC4E-56834C8B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0545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今天需要的結論：核心假說是否值得做，以及第一年應縮到哪裡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64318C-6CB7-48C9-BCEC-7F039583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6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251026-C804-48A7-A2CF-F7CAD91D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ABC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ABC0"/>
                </a:solidFill>
                <a:latin typeface="Microsoft JhengHei"/>
                <a:ea typeface="Microsoft JhengHei"/>
                <a:cs typeface="Microsoft JhengHei"/>
              </a:rPr>
              <a:t>討論焦點　核心假說、研究邊界、可取得資料</a:t>
            </a:r>
          </a:p>
        </p:txBody>
      </p:sp>
    </p:spTree>
    <p:extLst>
      <p:ext uri="{BB962C8B-B14F-4D97-AF65-F5344CB8AC3E}">
        <p14:creationId xmlns:p14="http://schemas.microsoft.com/office/powerpoint/2010/main" val="2369742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2026-09-09T15:16:49.1710000Z</dcterms:created>
  <dcterms:modified xsi:type="dcterms:W3CDTF">2026-09-09T15:16:49.1710000Z</dcterms:modified>
</coreProperties>
</file>